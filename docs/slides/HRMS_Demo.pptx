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" cy="2011680"/>
          </a:xfrm>
          <a:prstGeom prst="rect">
            <a:avLst/>
          </a:prstGeom>
          <a:solidFill>
            <a:srgbClr val="2F5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0584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8C7F5"/>
                </a:solidFill>
              </a:rPr>
              <a:t>UCS3513 SYSTEM DESIGN LABORATORY  |  MINI PROJECT  |  PROBLEM STATEMENT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</a:rPr>
              <a:t>Scalable Human Resource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DCE4F7"/>
                </a:solidFill>
              </a:rPr>
              <a:t>Gateway + 3 HR nodes + 4 MongoDB shards + Redis, with 8 system-design components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114800"/>
            <a:ext cx="2560320" cy="1005840"/>
          </a:xfrm>
          <a:prstGeom prst="rect">
            <a:avLst/>
          </a:prstGeom>
          <a:solidFill>
            <a:srgbClr val="2A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39" y="4206240"/>
            <a:ext cx="2286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Dravid Ranjan A.M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39" y="46177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8C7F5"/>
                </a:solidFill>
              </a:rPr>
              <a:t>3122245001046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4114800"/>
            <a:ext cx="2560320" cy="1005840"/>
          </a:xfrm>
          <a:prstGeom prst="rect">
            <a:avLst/>
          </a:prstGeom>
          <a:solidFill>
            <a:srgbClr val="2A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4206240"/>
            <a:ext cx="2286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Guhanesh M.L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46177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8C7F5"/>
                </a:solidFill>
              </a:rPr>
              <a:t>3122245001049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4114800"/>
            <a:ext cx="2560320" cy="1005840"/>
          </a:xfrm>
          <a:prstGeom prst="rect">
            <a:avLst/>
          </a:prstGeom>
          <a:solidFill>
            <a:srgbClr val="2A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206240"/>
            <a:ext cx="2286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Hansika N.M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177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8C7F5"/>
                </a:solidFill>
              </a:rPr>
              <a:t>3122245001052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4114800"/>
            <a:ext cx="2560320" cy="1005840"/>
          </a:xfrm>
          <a:prstGeom prst="rect">
            <a:avLst/>
          </a:prstGeom>
          <a:solidFill>
            <a:srgbClr val="2A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4206240"/>
            <a:ext cx="2286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Saisaravanan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46177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8C7F5"/>
                </a:solidFill>
              </a:rPr>
              <a:t>3122245001310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8C7F5"/>
                </a:solidFill>
              </a:rPr>
              <a:t>SSN College of Engineering  |  B.E. CSE, V Semester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F5BEA"/>
                </a:solidFill>
              </a:rPr>
              <a:t>PROBLEM AND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8A"/>
                </a:solidFill>
              </a:rPr>
              <a:t>An HRMS that keeps working as the organisation grows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Scalable HRM System  |  UCS3513 System Design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>
                <a:solidFill>
                  <a:srgbClr val="2F5BEA"/>
                </a:solidFill>
              </a:rPr>
              <a:t>•  </a:t>
            </a:r>
            <a:r>
              <a:rPr sz="1700" b="1">
                <a:solidFill>
                  <a:srgbClr val="1D2433"/>
                </a:solidFill>
              </a:rPr>
              <a:t>Workload  </a:t>
            </a:r>
            <a:r>
              <a:rPr sz="1700" b="0">
                <a:solidFill>
                  <a:srgbClr val="1D2433"/>
                </a:solidFill>
              </a:rPr>
              <a:t>read-heavy lookups, daily check-in bursts, month-end payroll</a:t>
            </a:r>
          </a:p>
          <a:p>
            <a:pPr algn="l">
              <a:spcAft>
                <a:spcPts val="1400"/>
              </a:spcAft>
            </a:pPr>
            <a:r>
              <a:rPr sz="1700">
                <a:solidFill>
                  <a:srgbClr val="2F5BEA"/>
                </a:solidFill>
              </a:rPr>
              <a:t>•  </a:t>
            </a:r>
            <a:r>
              <a:rPr sz="1700" b="1">
                <a:solidFill>
                  <a:srgbClr val="1D2433"/>
                </a:solidFill>
              </a:rPr>
              <a:t>Growth  </a:t>
            </a:r>
            <a:r>
              <a:rPr sz="1700" b="0">
                <a:solidFill>
                  <a:srgbClr val="1D2433"/>
                </a:solidFill>
              </a:rPr>
              <a:t>attendance grows as employees x days</a:t>
            </a:r>
          </a:p>
          <a:p>
            <a:pPr algn="l">
              <a:spcAft>
                <a:spcPts val="1400"/>
              </a:spcAft>
            </a:pPr>
            <a:r>
              <a:rPr sz="1700">
                <a:solidFill>
                  <a:srgbClr val="2F5BEA"/>
                </a:solidFill>
              </a:rPr>
              <a:t>•  </a:t>
            </a:r>
            <a:r>
              <a:rPr sz="1700" b="1">
                <a:solidFill>
                  <a:srgbClr val="1D2433"/>
                </a:solidFill>
              </a:rPr>
              <a:t>Concurrency  </a:t>
            </a:r>
            <a:r>
              <a:rPr sz="1700" b="0">
                <a:solidFill>
                  <a:srgbClr val="1D2433"/>
                </a:solidFill>
              </a:rPr>
              <a:t>several servers create records at the same time</a:t>
            </a:r>
          </a:p>
          <a:p>
            <a:pPr algn="l">
              <a:spcAft>
                <a:spcPts val="1400"/>
              </a:spcAft>
            </a:pPr>
            <a:r>
              <a:rPr sz="1700">
                <a:solidFill>
                  <a:srgbClr val="2F5BEA"/>
                </a:solidFill>
              </a:rPr>
              <a:t>•  </a:t>
            </a:r>
            <a:r>
              <a:rPr sz="1700" b="1">
                <a:solidFill>
                  <a:srgbClr val="1D2433"/>
                </a:solidFill>
              </a:rPr>
              <a:t>Outside data  </a:t>
            </a:r>
            <a:r>
              <a:rPr sz="1700" b="0">
                <a:solidFill>
                  <a:srgbClr val="1D2433"/>
                </a:solidFill>
              </a:rPr>
              <a:t>job listings from external portals</a:t>
            </a:r>
          </a:p>
          <a:p>
            <a:pPr algn="l">
              <a:spcAft>
                <a:spcPts val="1400"/>
              </a:spcAft>
            </a:pPr>
            <a:r>
              <a:rPr sz="1700">
                <a:solidFill>
                  <a:srgbClr val="2F5BEA"/>
                </a:solidFill>
              </a:rPr>
              <a:t>•  </a:t>
            </a:r>
            <a:r>
              <a:rPr sz="1700" b="1">
                <a:solidFill>
                  <a:srgbClr val="1D2433"/>
                </a:solidFill>
              </a:rPr>
              <a:t>Availability  </a:t>
            </a:r>
            <a:r>
              <a:rPr sz="1700" b="0">
                <a:solidFill>
                  <a:srgbClr val="1D2433"/>
                </a:solidFill>
              </a:rPr>
              <a:t>must survive a server or a database failing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212080" cy="438912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8A"/>
                </a:solidFill>
              </a:rPr>
              <a:t>What we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75488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0">
                <a:solidFill>
                  <a:srgbClr val="1D2433"/>
                </a:solidFill>
              </a:rPr>
              <a:t>Employees, attendance, leave, payroll, recruitment, performance, notifications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0">
                <a:solidFill>
                  <a:srgbClr val="1D2433"/>
                </a:solidFill>
              </a:rPr>
              <a:t>3 roles: HR admin, manager, employee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0">
                <a:solidFill>
                  <a:srgbClr val="1D2433"/>
                </a:solidFill>
              </a:rPr>
              <a:t>10,000 synthetic employees across 4 shards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0">
                <a:solidFill>
                  <a:srgbClr val="1D2433"/>
                </a:solidFill>
              </a:rPr>
              <a:t>Evaluated at 10 / 50 / 200 users against a single-server baseline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0">
                <a:solidFill>
                  <a:srgbClr val="1D2433"/>
                </a:solidFill>
              </a:rPr>
              <a:t>Node and shard failure, node and shard scaling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F5BEA"/>
                </a:solidFill>
              </a:rPr>
              <a:t>DELIVERABLE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8A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Scalable HRM System  |  UCS3513 System Design Lab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422" y="1371600"/>
            <a:ext cx="776667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F5BEA"/>
                </a:solidFill>
              </a:rPr>
              <a:t>DELIVERABLE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8A"/>
                </a:solidFill>
              </a:rPr>
              <a:t>Eight components, each with a real HR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Scalable HRM System  |  UCS3513 System Design Lab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4937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480560"/>
                <a:gridCol w="4206240"/>
              </a:tblGrid>
              <a:tr h="54863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54864" marR="54864" marT="27432" marB="27432">
                    <a:solidFill>
                      <a:srgbClr val="1F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Used for</a:t>
                      </a:r>
                    </a:p>
                  </a:txBody>
                  <a:tcPr marL="54864" marR="54864" marT="27432" marB="27432">
                    <a:solidFill>
                      <a:srgbClr val="1F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Design</a:t>
                      </a:r>
                    </a:p>
                  </a:txBody>
                  <a:tcPr marL="54864" marR="54864" marT="27432" marB="27432">
                    <a:solidFill>
                      <a:srgbClr val="1F3A8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Unique ID generator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IDs for every record, from 3 nodes at once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Snowflake: 41-bit time, 10-bit node, 12-bit seq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Sharding</a:t>
                      </a:r>
                    </a:p>
                  </a:txBody>
                  <a:tcPr marL="54864" marR="54864" marT="27432" marB="27432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All employee-owned data co-located by employeeId</a:t>
                      </a:r>
                    </a:p>
                  </a:txBody>
                  <a:tcPr marL="54864" marR="54864" marT="27432" marB="27432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App-level hash sharding over 4 MongoDB</a:t>
                      </a:r>
                    </a:p>
                  </a:txBody>
                  <a:tcPr marL="54864" marR="54864" marT="27432" marB="27432">
                    <a:solidFill>
                      <a:srgbClr val="EEF2FB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Consistent hashing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Gateway -&gt; node, employeeId -&gt; shard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MurmurHash3 ring, 150 virtual nodes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Key-value store</a:t>
                      </a:r>
                    </a:p>
                  </a:txBody>
                  <a:tcPr marL="54864" marR="54864" marT="27432" marB="27432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Sessions, cache, limiter, short links, shard map</a:t>
                      </a:r>
                    </a:p>
                  </a:txBody>
                  <a:tcPr marL="54864" marR="54864" marT="27432" marB="27432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Redis cache-aside + TTL, pub/sub</a:t>
                      </a:r>
                    </a:p>
                  </a:txBody>
                  <a:tcPr marL="54864" marR="54864" marT="27432" marB="27432">
                    <a:solidFill>
                      <a:srgbClr val="EEF2FB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Rate limiter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Login brute force, payroll runs, all APIs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Token bucket, atomic Redis Lua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Autocomplete</a:t>
                      </a:r>
                    </a:p>
                  </a:txBody>
                  <a:tcPr marL="54864" marR="54864" marT="27432" marB="27432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Employee and job search as you type</a:t>
                      </a:r>
                    </a:p>
                  </a:txBody>
                  <a:tcPr marL="54864" marR="54864" marT="27432" marB="27432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Trie with cached top-10 per prefix</a:t>
                      </a:r>
                    </a:p>
                  </a:txBody>
                  <a:tcPr marL="54864" marR="54864" marT="27432" marB="27432">
                    <a:solidFill>
                      <a:srgbClr val="EEF2FB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URL shortener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Public job links, expiring payslip links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Base62(Snowflake), Redis TTL, 302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Web crawler</a:t>
                      </a:r>
                    </a:p>
                  </a:txBody>
                  <a:tcPr marL="54864" marR="54864" marT="27432" marB="27432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Import jobs from 3 portals</a:t>
                      </a:r>
                    </a:p>
                  </a:txBody>
                  <a:tcPr marL="54864" marR="54864" marT="27432" marB="27432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433"/>
                          </a:solidFill>
                        </a:rPr>
                        <a:t>BFS, robots.txt, 200 ms politeness, dedup</a:t>
                      </a:r>
                    </a:p>
                  </a:txBody>
                  <a:tcPr marL="54864" marR="54864" marT="27432" marB="27432"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F5BEA"/>
                </a:solidFill>
              </a:rPr>
              <a:t>REQUEST FLOW AND SHARDING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8A"/>
                </a:solidFill>
              </a:rPr>
              <a:t>One request, one node, one shard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Scalable HRM System  |  UCS3513 System Design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>
                <a:solidFill>
                  <a:srgbClr val="2F5BEA"/>
                </a:solidFill>
              </a:rPr>
              <a:t>•  </a:t>
            </a:r>
            <a:r>
              <a:rPr sz="1600" b="0">
                <a:solidFill>
                  <a:srgbClr val="1D2433"/>
                </a:solidFill>
              </a:rPr>
              <a:t>Browser -&gt; gateway :8080 with session token</a:t>
            </a:r>
          </a:p>
          <a:p>
            <a:pPr algn="l">
              <a:spcAft>
                <a:spcPts val="1200"/>
              </a:spcAft>
            </a:pPr>
            <a:r>
              <a:rPr sz="1600">
                <a:solidFill>
                  <a:srgbClr val="2F5BEA"/>
                </a:solidFill>
              </a:rPr>
              <a:t>•  </a:t>
            </a:r>
            <a:r>
              <a:rPr sz="1600" b="0">
                <a:solidFill>
                  <a:srgbClr val="1D2433"/>
                </a:solidFill>
              </a:rPr>
              <a:t>Rate limiter: token bucket in Redis (429 if empty)</a:t>
            </a:r>
          </a:p>
          <a:p>
            <a:pPr algn="l">
              <a:spcAft>
                <a:spcPts val="1200"/>
              </a:spcAft>
            </a:pPr>
            <a:r>
              <a:rPr sz="1600">
                <a:solidFill>
                  <a:srgbClr val="2F5BEA"/>
                </a:solidFill>
              </a:rPr>
              <a:t>•  </a:t>
            </a:r>
            <a:r>
              <a:rPr sz="1600" b="0">
                <a:solidFill>
                  <a:srgbClr val="1D2433"/>
                </a:solidFill>
              </a:rPr>
              <a:t>Node ring picks the HR node for this employee; retry on next node if it fails</a:t>
            </a:r>
          </a:p>
          <a:p>
            <a:pPr algn="l">
              <a:spcAft>
                <a:spcPts val="1200"/>
              </a:spcAft>
            </a:pPr>
            <a:r>
              <a:rPr sz="1600">
                <a:solidFill>
                  <a:srgbClr val="2F5BEA"/>
                </a:solidFill>
              </a:rPr>
              <a:t>•  </a:t>
            </a:r>
            <a:r>
              <a:rPr sz="1600" b="0">
                <a:solidFill>
                  <a:srgbClr val="1D2433"/>
                </a:solidFill>
              </a:rPr>
              <a:t>Node checks session and role (Redis)</a:t>
            </a:r>
          </a:p>
          <a:p>
            <a:pPr algn="l">
              <a:spcAft>
                <a:spcPts val="1200"/>
              </a:spcAft>
            </a:pPr>
            <a:r>
              <a:rPr sz="1600">
                <a:solidFill>
                  <a:srgbClr val="2F5BEA"/>
                </a:solidFill>
              </a:rPr>
              <a:t>•  </a:t>
            </a:r>
            <a:r>
              <a:rPr sz="1600" b="0">
                <a:solidFill>
                  <a:srgbClr val="1D2433"/>
                </a:solidFill>
              </a:rPr>
              <a:t>Cache hit -&gt; answer from Redis; miss -&gt; shard ring -&gt; MongoDB -&gt; cache</a:t>
            </a:r>
          </a:p>
          <a:p>
            <a:pPr algn="l">
              <a:spcAft>
                <a:spcPts val="1200"/>
              </a:spcAft>
            </a:pPr>
            <a:r>
              <a:rPr sz="1600">
                <a:solidFill>
                  <a:srgbClr val="2F5BEA"/>
                </a:solidFill>
              </a:rPr>
              <a:t>•  </a:t>
            </a:r>
            <a:r>
              <a:rPr sz="1600" b="0">
                <a:solidFill>
                  <a:srgbClr val="1D2433"/>
                </a:solidFill>
              </a:rPr>
              <a:t>All of an employee's data is on one shard, so most requests touch one shard</a:t>
            </a:r>
          </a:p>
        </p:txBody>
      </p:sp>
      <p:pic>
        <p:nvPicPr>
          <p:cNvPr id="8" name="Picture 7" descr="shard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33020"/>
            <a:ext cx="5303520" cy="31005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394960"/>
            <a:ext cx="53035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D6B82"/>
                </a:solidFill>
              </a:rPr>
              <a:t>Adding shard-3 moved 26.5% of employees (53,581 documents) in 6.7 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F5BEA"/>
                </a:solidFill>
              </a:rPr>
              <a:t>SNOWFLAKE + URL SHORTENER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8A"/>
                </a:solidFill>
              </a:rPr>
              <a:t>Unique IDs and short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Scalable HRM System  |  UCS3513 System Design Lab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474720" cy="123444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32004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F5BEA"/>
                </a:solidFill>
              </a:rPr>
              <a:t>3.8 M/s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3200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B82"/>
                </a:solidFill>
              </a:rPr>
              <a:t>IDs per second, one generator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3474720" cy="123444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45920"/>
            <a:ext cx="32004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F5BEA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40280"/>
            <a:ext cx="3200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B82"/>
                </a:solidFill>
              </a:rPr>
              <a:t>collisions in 300k IDs from 3 nodes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554480"/>
            <a:ext cx="3474720" cy="123444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45920"/>
            <a:ext cx="32004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C82E3A"/>
                </a:solidFill>
              </a:rPr>
              <a:t>192,273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240280"/>
            <a:ext cx="3200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B82"/>
                </a:solidFill>
              </a:rPr>
              <a:t>collisions if all nodes share an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8A"/>
                </a:solidFill>
              </a:rPr>
              <a:t>id = (ms since 2026-01-01) &lt;&lt; 22  |  nodeId &lt;&lt; 12  |  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097280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2F5BEA"/>
                </a:solidFill>
              </a:rPr>
              <a:t>•  </a:t>
            </a:r>
            <a:r>
              <a:rPr sz="1700" b="0">
                <a:solidFill>
                  <a:srgbClr val="1D2433"/>
                </a:solidFill>
              </a:rPr>
              <a:t>Short code = Base62 of a Snowflake ID, served at /s/{code}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2F5BEA"/>
                </a:solidFill>
              </a:rPr>
              <a:t>•  </a:t>
            </a:r>
            <a:r>
              <a:rPr sz="1700" b="0">
                <a:solidFill>
                  <a:srgbClr val="1D2433"/>
                </a:solidFill>
              </a:rPr>
              <a:t>Redis holds code -&gt; URL with a TTL (payslip 24 h, offer 7 d); MongoDB keeps a durable copy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2F5BEA"/>
                </a:solidFill>
              </a:rPr>
              <a:t>•  </a:t>
            </a:r>
            <a:r>
              <a:rPr sz="1700" b="0">
                <a:solidFill>
                  <a:srgbClr val="1D2433"/>
                </a:solidFill>
              </a:rPr>
              <a:t>Redirect: 9.1 ms average, p95 12.9 ms, 500/500 correct 302s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F5BEA"/>
                </a:solidFill>
              </a:rPr>
              <a:t>CONSISTENT HASHING + REBALANCING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8A"/>
                </a:solidFill>
              </a:rPr>
              <a:t>Consistent hashing: even spread, minimal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Scalable HRM System  |  UCS3513 System Design Lab</a:t>
            </a:r>
          </a:p>
        </p:txBody>
      </p:sp>
      <p:pic>
        <p:nvPicPr>
          <p:cNvPr id="7" name="Picture 6" descr="has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0124"/>
            <a:ext cx="7498079" cy="2849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1554480"/>
            <a:ext cx="3291840" cy="123444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645920"/>
            <a:ext cx="3017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F5BEA"/>
                </a:solidFill>
              </a:rPr>
              <a:t>25.9%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240280"/>
            <a:ext cx="3017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B82"/>
                </a:solidFill>
              </a:rPr>
              <a:t>keys moved 3 -&gt; 4 shards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2971800"/>
            <a:ext cx="3291840" cy="123444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3063240"/>
            <a:ext cx="3017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C82E3A"/>
                </a:solidFill>
              </a:rPr>
              <a:t>75.1%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657600"/>
            <a:ext cx="3017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B82"/>
                </a:solidFill>
              </a:rPr>
              <a:t>with hash mod 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4389120"/>
            <a:ext cx="3291840" cy="123444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4480559"/>
            <a:ext cx="3017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F5BEA"/>
                </a:solidFill>
              </a:rPr>
              <a:t>3.9%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5074920"/>
            <a:ext cx="3017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B82"/>
                </a:solidFill>
              </a:rPr>
              <a:t>std-dev of load, 150 virtual nodes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F5BEA"/>
                </a:solidFill>
              </a:rPr>
              <a:t>KEY-VALUE STORE + AUTOCOMPLETE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8A"/>
                </a:solidFill>
              </a:rPr>
              <a:t>Redis and the trie take the reads off MongoDB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Scalable HRM System  |  UCS3513 System Design Lab</a:t>
            </a:r>
          </a:p>
        </p:txBody>
      </p:sp>
      <p:pic>
        <p:nvPicPr>
          <p:cNvPr id="7" name="Picture 6" descr="kv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5486400" cy="3291840"/>
          </a:xfrm>
          <a:prstGeom prst="rect">
            <a:avLst/>
          </a:prstGeom>
        </p:spPr>
      </p:pic>
      <p:pic>
        <p:nvPicPr>
          <p:cNvPr id="8" name="Picture 7" descr="autocomplete_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48640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074920"/>
            <a:ext cx="1106424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0">
                <a:solidFill>
                  <a:srgbClr val="1D2433"/>
                </a:solidFill>
              </a:rPr>
              <a:t>Cache hit ratio 99.7% under live traffic; MongoDB CPU 297% (baseline) -&gt; 27% (proposed) at the same request rate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0">
                <a:solidFill>
                  <a:srgbClr val="1D2433"/>
                </a:solidFill>
              </a:rPr>
              <a:t>Trie 0.005 ms vs regex across shards 16.1 ms (over 3,000x), precision@10 = 1.00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F5BEA"/>
                </a:solidFill>
              </a:rPr>
              <a:t>RATE LIMITER + WEB CRAWLER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8A"/>
                </a:solidFill>
              </a:rPr>
              <a:t>Rate limiter and web crawler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Scalable HRM System  |  UCS3513 System Design Lab</a:t>
            </a:r>
          </a:p>
        </p:txBody>
      </p:sp>
      <p:pic>
        <p:nvPicPr>
          <p:cNvPr id="7" name="Picture 6" descr="rate_limi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03780"/>
            <a:ext cx="6949440" cy="25017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074920"/>
            <a:ext cx="694944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F5BEA"/>
                </a:solidFill>
              </a:rPr>
              <a:t>•  </a:t>
            </a:r>
            <a:r>
              <a:rPr sz="1400" b="0">
                <a:solidFill>
                  <a:srgbClr val="1D2433"/>
                </a:solidFill>
              </a:rPr>
              <a:t>Burst of 600: 189 allowed (theory ~191), 68.5% rejected with 429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F5BEA"/>
                </a:solidFill>
              </a:rPr>
              <a:t>•  </a:t>
            </a:r>
            <a:r>
              <a:rPr sz="1400" b="0">
                <a:solidFill>
                  <a:srgbClr val="1D2433"/>
                </a:solidFill>
              </a:rPr>
              <a:t>Login brute force: 7 of 12 attempts blocked after 5 failures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371600"/>
            <a:ext cx="3749039" cy="484632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508760"/>
            <a:ext cx="3383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8A"/>
                </a:solidFill>
              </a:rPr>
              <a:t>Crawler (3 portals)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03120"/>
            <a:ext cx="338328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1">
                <a:solidFill>
                  <a:srgbClr val="1D2433"/>
                </a:solidFill>
              </a:rPr>
              <a:t>Pages  </a:t>
            </a:r>
            <a:r>
              <a:rPr sz="1500" b="0">
                <a:solidFill>
                  <a:srgbClr val="1D2433"/>
                </a:solidFill>
              </a:rPr>
              <a:t>136 at 5.00/s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1">
                <a:solidFill>
                  <a:srgbClr val="1D2433"/>
                </a:solidFill>
              </a:rPr>
              <a:t>Jobs  </a:t>
            </a:r>
            <a:r>
              <a:rPr sz="1500" b="0">
                <a:solidFill>
                  <a:srgbClr val="1D2433"/>
                </a:solidFill>
              </a:rPr>
              <a:t>102 unique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1">
                <a:solidFill>
                  <a:srgbClr val="1D2433"/>
                </a:solidFill>
              </a:rPr>
              <a:t>Duplicates  </a:t>
            </a:r>
            <a:r>
              <a:rPr sz="1500" b="0">
                <a:solidFill>
                  <a:srgbClr val="1D2433"/>
                </a:solidFill>
              </a:rPr>
              <a:t>18 dropped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1">
                <a:solidFill>
                  <a:srgbClr val="1D2433"/>
                </a:solidFill>
              </a:rPr>
              <a:t>robots.txt  </a:t>
            </a:r>
            <a:r>
              <a:rPr sz="1500" b="0">
                <a:solidFill>
                  <a:srgbClr val="1D2433"/>
                </a:solidFill>
              </a:rPr>
              <a:t>2 pages skipped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1">
                <a:solidFill>
                  <a:srgbClr val="1D2433"/>
                </a:solidFill>
              </a:rPr>
              <a:t>Failures  </a:t>
            </a:r>
            <a:r>
              <a:rPr sz="1500" b="0">
                <a:solidFill>
                  <a:srgbClr val="1D2433"/>
                </a:solidFill>
              </a:rPr>
              <a:t>0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0">
                <a:solidFill>
                  <a:srgbClr val="1D2433"/>
                </a:solidFill>
              </a:rPr>
              <a:t>BFS, depth 3, 200 ms politeness per host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F5BEA"/>
                </a:solidFill>
              </a:rPr>
              <a:t>DELIVERABLE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8A"/>
                </a:solidFill>
              </a:rPr>
              <a:t>Load test: proposed vs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Scalable HRM System  |  UCS3513 System Design Lab</a:t>
            </a:r>
          </a:p>
        </p:txBody>
      </p:sp>
      <p:pic>
        <p:nvPicPr>
          <p:cNvPr id="7" name="Picture 6" descr="latency_by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1833"/>
            <a:ext cx="6766560" cy="257129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1417320"/>
          <a:ext cx="4114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868680"/>
                <a:gridCol w="868680"/>
                <a:gridCol w="548640"/>
                <a:gridCol w="91440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Load</a:t>
                      </a:r>
                    </a:p>
                  </a:txBody>
                  <a:tcPr marL="54864" marR="54864" marT="27432" marB="27432">
                    <a:solidFill>
                      <a:srgbClr val="1F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Req/s</a:t>
                      </a:r>
                    </a:p>
                  </a:txBody>
                  <a:tcPr marL="54864" marR="54864" marT="27432" marB="27432">
                    <a:solidFill>
                      <a:srgbClr val="1F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p95 ms</a:t>
                      </a:r>
                    </a:p>
                  </a:txBody>
                  <a:tcPr marL="54864" marR="54864" marT="27432" marB="27432">
                    <a:solidFill>
                      <a:srgbClr val="1F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OK</a:t>
                      </a:r>
                    </a:p>
                  </a:txBody>
                  <a:tcPr marL="54864" marR="54864" marT="27432" marB="27432">
                    <a:solidFill>
                      <a:srgbClr val="1F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Mongo CPU %</a:t>
                      </a:r>
                    </a:p>
                  </a:txBody>
                  <a:tcPr marL="54864" marR="54864" marT="27432" marB="27432">
                    <a:solidFill>
                      <a:srgbClr val="1F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433"/>
                          </a:solidFill>
                        </a:rPr>
                        <a:t>10 users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433"/>
                          </a:solidFill>
                        </a:rPr>
                        <a:t>395 / 394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433"/>
                          </a:solidFill>
                        </a:rPr>
                        <a:t>36 / 57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433"/>
                          </a:solidFill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433"/>
                          </a:solidFill>
                        </a:rPr>
                        <a:t>27 / 290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433"/>
                          </a:solidFill>
                        </a:rPr>
                        <a:t>50 users</a:t>
                      </a:r>
                    </a:p>
                  </a:txBody>
                  <a:tcPr marL="54864" marR="54864" marT="27432" marB="27432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433"/>
                          </a:solidFill>
                        </a:rPr>
                        <a:t>362 / 397</a:t>
                      </a:r>
                    </a:p>
                  </a:txBody>
                  <a:tcPr marL="54864" marR="54864" marT="27432" marB="27432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433"/>
                          </a:solidFill>
                        </a:rPr>
                        <a:t>232 / 206</a:t>
                      </a:r>
                    </a:p>
                  </a:txBody>
                  <a:tcPr marL="54864" marR="54864" marT="27432" marB="27432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433"/>
                          </a:solidFill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433"/>
                          </a:solidFill>
                        </a:rPr>
                        <a:t>27 / 305</a:t>
                      </a:r>
                    </a:p>
                  </a:txBody>
                  <a:tcPr marL="54864" marR="54864" marT="27432" marB="27432">
                    <a:solidFill>
                      <a:srgbClr val="EEF2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433"/>
                          </a:solidFill>
                        </a:rPr>
                        <a:t>200 users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433"/>
                          </a:solidFill>
                        </a:rPr>
                        <a:t>361 / 364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433"/>
                          </a:solidFill>
                        </a:rPr>
                        <a:t>1112 / 984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433"/>
                          </a:solidFill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433"/>
                          </a:solidFill>
                        </a:rPr>
                        <a:t>26 / 296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79" y="3200400"/>
            <a:ext cx="4114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proposed /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0">
                <a:solidFill>
                  <a:srgbClr val="1D2433"/>
                </a:solidFill>
              </a:rPr>
              <a:t>100% success at every level, for both systems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0">
                <a:solidFill>
                  <a:srgbClr val="1D2433"/>
                </a:solidFill>
              </a:rPr>
              <a:t>Throughput is flat (~360-395 req/s): all 10 containers and the load generator share one laptop CPU; latency grows with users as Little's law predicts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0">
                <a:solidFill>
                  <a:srgbClr val="1D2433"/>
                </a:solidFill>
              </a:rPr>
              <a:t>The real gain is database headroom: MongoDB CPU about 11x lower thanks to the cache and the trie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F5BEA"/>
                </a:solidFill>
              </a:rPr>
              <a:t>DELIVERABLE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8A"/>
                </a:solidFill>
              </a:rPr>
              <a:t>Failure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Scalable HRM System  |  UCS3513 System Design Lab</a:t>
            </a:r>
          </a:p>
        </p:txBody>
      </p:sp>
      <p:pic>
        <p:nvPicPr>
          <p:cNvPr id="7" name="Picture 6" descr="node_failur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93520"/>
            <a:ext cx="5486400" cy="2316480"/>
          </a:xfrm>
          <a:prstGeom prst="rect">
            <a:avLst/>
          </a:prstGeom>
        </p:spPr>
      </p:pic>
      <p:pic>
        <p:nvPicPr>
          <p:cNvPr id="8" name="Picture 7" descr="shard_failure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93520"/>
            <a:ext cx="5486400" cy="2316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114800"/>
            <a:ext cx="54864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F5BEA"/>
                </a:solidFill>
              </a:rPr>
              <a:t>•  </a:t>
            </a:r>
            <a:r>
              <a:rPr sz="1400" b="1">
                <a:solidFill>
                  <a:srgbClr val="1D2433"/>
                </a:solidFill>
              </a:rPr>
              <a:t>HR node killed  </a:t>
            </a:r>
            <a:r>
              <a:rPr sz="1400" b="0">
                <a:solidFill>
                  <a:srgbClr val="1D2433"/>
                </a:solidFill>
              </a:rPr>
              <a:t>100% success, p95 224 ms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F5BEA"/>
                </a:solidFill>
              </a:rPr>
              <a:t>•  </a:t>
            </a:r>
            <a:r>
              <a:rPr sz="1400" b="0">
                <a:solidFill>
                  <a:srgbClr val="1D2433"/>
                </a:solidFill>
              </a:rPr>
              <a:t>Gateway retries on the next node; health check removes it in 2 s; sessions in Redis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4114800"/>
            <a:ext cx="54864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F5BEA"/>
                </a:solidFill>
              </a:rPr>
              <a:t>•  </a:t>
            </a:r>
            <a:r>
              <a:rPr sz="1400" b="1">
                <a:solidFill>
                  <a:srgbClr val="1D2433"/>
                </a:solidFill>
              </a:rPr>
              <a:t>Shard killed  </a:t>
            </a:r>
            <a:r>
              <a:rPr sz="1400" b="0">
                <a:solidFill>
                  <a:srgbClr val="1D2433"/>
                </a:solidFill>
              </a:rPr>
              <a:t>99.13% success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F5BEA"/>
                </a:solidFill>
              </a:rPr>
              <a:t>•  </a:t>
            </a:r>
            <a:r>
              <a:rPr sz="1400" b="0">
                <a:solidFill>
                  <a:srgbClr val="1D2433"/>
                </a:solidFill>
              </a:rPr>
              <a:t>503 only for users whose data is on that shard (check-in, payslips, notifications)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F5BEA"/>
                </a:solidFill>
              </a:rPr>
              <a:t>•  </a:t>
            </a:r>
            <a:r>
              <a:rPr sz="1400" b="0">
                <a:solidFill>
                  <a:srgbClr val="1D2433"/>
                </a:solidFill>
              </a:rPr>
              <a:t>Cached reads and autocomplete never failed; recovered on restart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F5BEA"/>
                </a:solidFill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8A"/>
                </a:solidFill>
              </a:rPr>
              <a:t>Trade-offs, limitations and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B82"/>
                </a:solidFill>
              </a:rPr>
              <a:t>Scalable HRM System  |  UCS3513 System Design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4864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1">
                <a:solidFill>
                  <a:srgbClr val="1D2433"/>
                </a:solidFill>
              </a:rPr>
              <a:t>App-level sharding  </a:t>
            </a:r>
            <a:r>
              <a:rPr sz="1500" b="0">
                <a:solidFill>
                  <a:srgbClr val="1D2433"/>
                </a:solidFill>
              </a:rPr>
              <a:t>full control, but the app routes every query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1">
                <a:solidFill>
                  <a:srgbClr val="1D2433"/>
                </a:solidFill>
              </a:rPr>
              <a:t>Cache-aside  </a:t>
            </a:r>
            <a:r>
              <a:rPr sz="1500" b="0">
                <a:solidFill>
                  <a:srgbClr val="1D2433"/>
                </a:solidFill>
              </a:rPr>
              <a:t>less DB load, stale for up to the TTL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1">
                <a:solidFill>
                  <a:srgbClr val="1D2433"/>
                </a:solidFill>
              </a:rPr>
              <a:t>Redis  </a:t>
            </a:r>
            <a:r>
              <a:rPr sz="1500" b="0">
                <a:solidFill>
                  <a:srgbClr val="1D2433"/>
                </a:solidFill>
              </a:rPr>
              <a:t>shared state makes nodes stateless, but is one point of failure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1">
                <a:solidFill>
                  <a:srgbClr val="1D2433"/>
                </a:solidFill>
              </a:rPr>
              <a:t>Gateway retry  </a:t>
            </a:r>
            <a:r>
              <a:rPr sz="1500" b="0">
                <a:solidFill>
                  <a:srgbClr val="1D2433"/>
                </a:solidFill>
              </a:rPr>
              <a:t>hides node failures, but needs idempotent requests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1">
                <a:solidFill>
                  <a:srgbClr val="1D2433"/>
                </a:solidFill>
              </a:rPr>
              <a:t>Limitations  </a:t>
            </a:r>
            <a:r>
              <a:rPr sz="1500" b="0">
                <a:solidFill>
                  <a:srgbClr val="1D2433"/>
                </a:solidFill>
              </a:rPr>
              <a:t>one machine; no replica sets; synthetic data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212080" cy="475488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00200"/>
            <a:ext cx="4754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8A"/>
                </a:solidFill>
              </a:rP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48840"/>
            <a:ext cx="475488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0">
                <a:solidFill>
                  <a:srgbClr val="1D2433"/>
                </a:solidFill>
              </a:rPr>
              <a:t>Admin dashboard, shards and serving node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0">
                <a:solidFill>
                  <a:srgbClr val="1D2433"/>
                </a:solidFill>
              </a:rPr>
              <a:t>Employee search with autocomplete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0">
                <a:solidFill>
                  <a:srgbClr val="1D2433"/>
                </a:solidFill>
              </a:rPr>
              <a:t>Leave apply -&gt; manager approve -&gt; balance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0">
                <a:solidFill>
                  <a:srgbClr val="1D2433"/>
                </a:solidFill>
              </a:rPr>
              <a:t>Payroll run, payslip short link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0">
                <a:solidFill>
                  <a:srgbClr val="1D2433"/>
                </a:solidFill>
              </a:rPr>
              <a:t>Crawl job portals, public apply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0">
                <a:solidFill>
                  <a:srgbClr val="1D2433"/>
                </a:solidFill>
              </a:rPr>
              <a:t>docker stop hrms-node-2: app keeps working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F5BEA"/>
                </a:solidFill>
              </a:rPr>
              <a:t>•  </a:t>
            </a:r>
            <a:r>
              <a:rPr sz="1500" b="0">
                <a:solidFill>
                  <a:srgbClr val="1D2433"/>
                </a:solidFill>
              </a:rPr>
              <a:t>Add node 4; add shard-3 and rebalance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